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07/05/2026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07/05/2026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07/05/2026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07/05/2026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07/05/2026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07/05/2026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07/05/2026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07/05/2026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07/05/2026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07/05/2026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07/05/2026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07/05/2026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07/05/2026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07/05/2026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07/05/2026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07/05/2026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07/05/2026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07/05/2026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F5EEE-9090-4A2F-A4ED-FD01539438BA}"/>
              </a:ext>
            </a:extLst>
          </p:cNvPr>
          <p:cNvSpPr>
            <a:spLocks noGrp="1"/>
          </p:cNvSpPr>
          <p:nvPr>
            <p:ph type="ctrTitle"/>
          </p:nvPr>
        </p:nvSpPr>
        <p:spPr>
          <a:xfrm>
            <a:off x="1219200" y="1122363"/>
            <a:ext cx="9448799" cy="2387600"/>
          </a:xfrm>
        </p:spPr>
        <p:txBody>
          <a:bodyPr/>
          <a:lstStyle/>
          <a:p>
            <a:pPr algn="ctr"/>
            <a:r>
              <a:rPr lang="en-US" b="1" dirty="0">
                <a:solidFill>
                  <a:srgbClr val="FF0000"/>
                </a:solidFill>
                <a:latin typeface="Calibri" panose="020F0502020204030204" pitchFamily="34" charset="0"/>
                <a:cs typeface="Calibri" panose="020F0502020204030204" pitchFamily="34" charset="0"/>
              </a:rPr>
              <a:t>E-commerce Orders analysis</a:t>
            </a:r>
          </a:p>
        </p:txBody>
      </p:sp>
      <p:sp>
        <p:nvSpPr>
          <p:cNvPr id="3" name="Subtitle 2">
            <a:extLst>
              <a:ext uri="{FF2B5EF4-FFF2-40B4-BE49-F238E27FC236}">
                <a16:creationId xmlns:a16="http://schemas.microsoft.com/office/drawing/2014/main" id="{5ACADDFA-9FAB-40D5-A969-972B0DEDFCB7}"/>
              </a:ext>
            </a:extLst>
          </p:cNvPr>
          <p:cNvSpPr>
            <a:spLocks noGrp="1"/>
          </p:cNvSpPr>
          <p:nvPr>
            <p:ph type="subTitle" idx="1"/>
          </p:nvPr>
        </p:nvSpPr>
        <p:spPr/>
        <p:txBody>
          <a:bodyPr/>
          <a:lstStyle/>
          <a:p>
            <a:pPr algn="ctr"/>
            <a:r>
              <a:rPr lang="en-US" b="1" dirty="0">
                <a:solidFill>
                  <a:schemeClr val="bg1"/>
                </a:solidFill>
                <a:latin typeface="Calibri" panose="020F0502020204030204" pitchFamily="34" charset="0"/>
                <a:cs typeface="Calibri" panose="020F0502020204030204" pitchFamily="34" charset="0"/>
              </a:rPr>
              <a:t>Mobile accessories</a:t>
            </a:r>
          </a:p>
        </p:txBody>
      </p:sp>
    </p:spTree>
    <p:extLst>
      <p:ext uri="{BB962C8B-B14F-4D97-AF65-F5344CB8AC3E}">
        <p14:creationId xmlns:p14="http://schemas.microsoft.com/office/powerpoint/2010/main" val="3430047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EEDEE-4032-43A2-8A10-B1BC6F314759}"/>
              </a:ext>
            </a:extLst>
          </p:cNvPr>
          <p:cNvSpPr>
            <a:spLocks noGrp="1"/>
          </p:cNvSpPr>
          <p:nvPr>
            <p:ph type="title"/>
          </p:nvPr>
        </p:nvSpPr>
        <p:spPr/>
        <p:txBody>
          <a:bodyPr>
            <a:normAutofit/>
          </a:bodyPr>
          <a:lstStyle/>
          <a:p>
            <a:pPr algn="ctr"/>
            <a:r>
              <a:rPr lang="en-US" sz="3200" b="1" dirty="0">
                <a:solidFill>
                  <a:srgbClr val="FF0000"/>
                </a:solidFill>
                <a:latin typeface="Arial" panose="020B0604020202020204" pitchFamily="34" charset="0"/>
                <a:cs typeface="Arial" panose="020B0604020202020204" pitchFamily="34" charset="0"/>
              </a:rPr>
              <a:t>Problem statement</a:t>
            </a:r>
          </a:p>
        </p:txBody>
      </p:sp>
      <p:sp>
        <p:nvSpPr>
          <p:cNvPr id="3" name="Content Placeholder 2">
            <a:extLst>
              <a:ext uri="{FF2B5EF4-FFF2-40B4-BE49-F238E27FC236}">
                <a16:creationId xmlns:a16="http://schemas.microsoft.com/office/drawing/2014/main" id="{AB0DF79A-48CA-4095-87E3-18B96AA18BB8}"/>
              </a:ext>
            </a:extLst>
          </p:cNvPr>
          <p:cNvSpPr>
            <a:spLocks noGrp="1"/>
          </p:cNvSpPr>
          <p:nvPr>
            <p:ph idx="1"/>
          </p:nvPr>
        </p:nvSpPr>
        <p:spPr>
          <a:xfrm>
            <a:off x="1141412" y="2236234"/>
            <a:ext cx="9905999" cy="3541714"/>
          </a:xfrm>
        </p:spPr>
        <p:txBody>
          <a:bodyPr/>
          <a:lstStyle/>
          <a:p>
            <a:pPr>
              <a:buFont typeface="Wingdings" panose="05000000000000000000" pitchFamily="2" charset="2"/>
              <a:buChar char="§"/>
            </a:pPr>
            <a:r>
              <a:rPr lang="en-US" sz="2000" dirty="0">
                <a:solidFill>
                  <a:schemeClr val="bg1"/>
                </a:solidFill>
                <a:effectLst/>
                <a:latin typeface="Arial" panose="020B0604020202020204" pitchFamily="34" charset="0"/>
                <a:ea typeface="Times New Roman" panose="02020603050405020304" pitchFamily="18" charset="0"/>
              </a:rPr>
              <a:t>The</a:t>
            </a:r>
            <a:r>
              <a:rPr lang="en-US" sz="1800" dirty="0">
                <a:solidFill>
                  <a:schemeClr val="bg1"/>
                </a:solidFill>
                <a:effectLst/>
                <a:latin typeface="Arial" panose="020B0604020202020204" pitchFamily="34" charset="0"/>
                <a:ea typeface="Times New Roman" panose="02020603050405020304" pitchFamily="18" charset="0"/>
              </a:rPr>
              <a:t> company wanted to analyze its E-Commerce sales data across multiple countries to understand sales performance, customer behavior, order trends, and target achievement.</a:t>
            </a:r>
            <a:endParaRPr lang="en-US" sz="1800" dirty="0">
              <a:solidFill>
                <a:schemeClr val="bg1"/>
              </a:solidFill>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
            </a:pPr>
            <a:r>
              <a:rPr lang="en-US" sz="1800" dirty="0">
                <a:solidFill>
                  <a:schemeClr val="bg1"/>
                </a:solidFill>
                <a:effectLst/>
                <a:latin typeface="Arial" panose="020B0604020202020204" pitchFamily="34" charset="0"/>
                <a:ea typeface="Times New Roman" panose="02020603050405020304" pitchFamily="18" charset="0"/>
              </a:rPr>
              <a:t>The objective of this project was to clean and transform the data, create a proper data model, and build an interactive Power BI dashboard that helps management track sales targets, identify top-performing sales teams and managers, analyze customer categories, and improve business decision-making</a:t>
            </a:r>
            <a:endParaRPr lang="en-US" dirty="0">
              <a:solidFill>
                <a:schemeClr val="bg1"/>
              </a:solidFill>
            </a:endParaRPr>
          </a:p>
        </p:txBody>
      </p:sp>
    </p:spTree>
    <p:extLst>
      <p:ext uri="{BB962C8B-B14F-4D97-AF65-F5344CB8AC3E}">
        <p14:creationId xmlns:p14="http://schemas.microsoft.com/office/powerpoint/2010/main" val="3026792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759D6-98AF-45AA-86D4-22F7524F2924}"/>
              </a:ext>
            </a:extLst>
          </p:cNvPr>
          <p:cNvSpPr>
            <a:spLocks noGrp="1"/>
          </p:cNvSpPr>
          <p:nvPr>
            <p:ph type="title"/>
          </p:nvPr>
        </p:nvSpPr>
        <p:spPr>
          <a:xfrm>
            <a:off x="1141413" y="1563756"/>
            <a:ext cx="9905998" cy="533331"/>
          </a:xfrm>
        </p:spPr>
        <p:txBody>
          <a:bodyPr>
            <a:normAutofit/>
          </a:bodyPr>
          <a:lstStyle/>
          <a:p>
            <a:r>
              <a:rPr lang="en-US" sz="2800" b="1" dirty="0">
                <a:solidFill>
                  <a:srgbClr val="FF0000"/>
                </a:solidFill>
              </a:rPr>
              <a:t>Data cleaning</a:t>
            </a:r>
          </a:p>
        </p:txBody>
      </p:sp>
      <p:sp>
        <p:nvSpPr>
          <p:cNvPr id="3" name="Content Placeholder 2">
            <a:extLst>
              <a:ext uri="{FF2B5EF4-FFF2-40B4-BE49-F238E27FC236}">
                <a16:creationId xmlns:a16="http://schemas.microsoft.com/office/drawing/2014/main" id="{1CC049D3-CA5E-489B-95F7-9D4AF81D3002}"/>
              </a:ext>
            </a:extLst>
          </p:cNvPr>
          <p:cNvSpPr>
            <a:spLocks noGrp="1"/>
          </p:cNvSpPr>
          <p:nvPr>
            <p:ph idx="1"/>
          </p:nvPr>
        </p:nvSpPr>
        <p:spPr/>
        <p:txBody>
          <a:bodyPr/>
          <a:lstStyle/>
          <a:p>
            <a:pPr marL="457200" indent="-457200">
              <a:buFont typeface="+mj-lt"/>
              <a:buAutoNum type="arabicPeriod"/>
            </a:pPr>
            <a:r>
              <a:rPr lang="en-US" dirty="0">
                <a:solidFill>
                  <a:schemeClr val="bg1"/>
                </a:solidFill>
              </a:rPr>
              <a:t>Using filter empty values removed </a:t>
            </a:r>
          </a:p>
          <a:p>
            <a:pPr marL="457200" indent="-457200">
              <a:buFont typeface="+mj-lt"/>
              <a:buAutoNum type="arabicPeriod"/>
            </a:pPr>
            <a:r>
              <a:rPr lang="en-US" dirty="0">
                <a:solidFill>
                  <a:schemeClr val="bg1"/>
                </a:solidFill>
              </a:rPr>
              <a:t>Handled missing values</a:t>
            </a:r>
          </a:p>
          <a:p>
            <a:pPr marL="457200" indent="-457200">
              <a:buFont typeface="+mj-lt"/>
              <a:buAutoNum type="arabicPeriod"/>
            </a:pPr>
            <a:r>
              <a:rPr lang="en-US" dirty="0">
                <a:solidFill>
                  <a:schemeClr val="bg1"/>
                </a:solidFill>
              </a:rPr>
              <a:t>Create data model </a:t>
            </a:r>
          </a:p>
          <a:p>
            <a:pPr marL="457200" indent="-457200">
              <a:buFont typeface="+mj-lt"/>
              <a:buAutoNum type="arabicPeriod"/>
            </a:pPr>
            <a:r>
              <a:rPr lang="en-US" dirty="0">
                <a:solidFill>
                  <a:schemeClr val="bg1"/>
                </a:solidFill>
              </a:rPr>
              <a:t>Create DAX measures and column</a:t>
            </a:r>
          </a:p>
          <a:p>
            <a:pPr marL="457200" indent="-457200">
              <a:buFont typeface="+mj-lt"/>
              <a:buAutoNum type="arabicPeriod"/>
            </a:pPr>
            <a:endParaRPr lang="en-US" dirty="0">
              <a:solidFill>
                <a:schemeClr val="bg1"/>
              </a:solidFill>
            </a:endParaRPr>
          </a:p>
          <a:p>
            <a:r>
              <a:rPr lang="en-US" dirty="0">
                <a:solidFill>
                  <a:schemeClr val="bg1"/>
                </a:solidFill>
              </a:rPr>
              <a:t>Combined Sales Manger first name &amp; last name</a:t>
            </a:r>
          </a:p>
          <a:p>
            <a:endParaRPr lang="en-US" dirty="0"/>
          </a:p>
        </p:txBody>
      </p:sp>
    </p:spTree>
    <p:extLst>
      <p:ext uri="{BB962C8B-B14F-4D97-AF65-F5344CB8AC3E}">
        <p14:creationId xmlns:p14="http://schemas.microsoft.com/office/powerpoint/2010/main" val="1172294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55355-A82C-4C5D-8B32-0D6D94C8B968}"/>
              </a:ext>
            </a:extLst>
          </p:cNvPr>
          <p:cNvSpPr>
            <a:spLocks noGrp="1"/>
          </p:cNvSpPr>
          <p:nvPr>
            <p:ph type="title"/>
          </p:nvPr>
        </p:nvSpPr>
        <p:spPr>
          <a:xfrm>
            <a:off x="1041924" y="503583"/>
            <a:ext cx="9905998" cy="636104"/>
          </a:xfrm>
        </p:spPr>
        <p:txBody>
          <a:bodyPr>
            <a:normAutofit/>
          </a:bodyPr>
          <a:lstStyle/>
          <a:p>
            <a:r>
              <a:rPr lang="en-US" sz="1800" dirty="0">
                <a:solidFill>
                  <a:srgbClr val="FF0000"/>
                </a:solidFill>
              </a:rPr>
              <a:t>Target buckets-target not met, target met and target exceeded</a:t>
            </a:r>
            <a:br>
              <a:rPr lang="en-US" sz="1800" dirty="0">
                <a:solidFill>
                  <a:srgbClr val="FF0000"/>
                </a:solidFill>
              </a:rPr>
            </a:br>
            <a:r>
              <a:rPr lang="en-US" sz="1800" dirty="0">
                <a:solidFill>
                  <a:srgbClr val="FF0000"/>
                </a:solidFill>
              </a:rPr>
              <a:t>how many sales </a:t>
            </a:r>
            <a:r>
              <a:rPr lang="en-US" sz="1800" dirty="0" err="1">
                <a:solidFill>
                  <a:srgbClr val="FF0000"/>
                </a:solidFill>
              </a:rPr>
              <a:t>Poc</a:t>
            </a:r>
            <a:r>
              <a:rPr lang="en-US" sz="1800" dirty="0">
                <a:solidFill>
                  <a:srgbClr val="FF0000"/>
                </a:solidFill>
              </a:rPr>
              <a:t> achieved there target.</a:t>
            </a:r>
          </a:p>
        </p:txBody>
      </p:sp>
      <p:pic>
        <p:nvPicPr>
          <p:cNvPr id="5" name="Content Placeholder 4">
            <a:extLst>
              <a:ext uri="{FF2B5EF4-FFF2-40B4-BE49-F238E27FC236}">
                <a16:creationId xmlns:a16="http://schemas.microsoft.com/office/drawing/2014/main" id="{3EC74082-C906-4550-A530-B733F437E102}"/>
              </a:ext>
            </a:extLst>
          </p:cNvPr>
          <p:cNvPicPr>
            <a:picLocks noGrp="1" noChangeAspect="1"/>
          </p:cNvPicPr>
          <p:nvPr>
            <p:ph idx="1"/>
          </p:nvPr>
        </p:nvPicPr>
        <p:blipFill>
          <a:blip r:embed="rId2"/>
          <a:stretch>
            <a:fillRect/>
          </a:stretch>
        </p:blipFill>
        <p:spPr>
          <a:xfrm>
            <a:off x="1041924" y="1615921"/>
            <a:ext cx="4353533" cy="2715004"/>
          </a:xfrm>
        </p:spPr>
      </p:pic>
      <p:sp>
        <p:nvSpPr>
          <p:cNvPr id="8" name="Hexagon 7">
            <a:extLst>
              <a:ext uri="{FF2B5EF4-FFF2-40B4-BE49-F238E27FC236}">
                <a16:creationId xmlns:a16="http://schemas.microsoft.com/office/drawing/2014/main" id="{7BC41463-AC04-48B7-A939-37C0EC8E6B54}"/>
              </a:ext>
            </a:extLst>
          </p:cNvPr>
          <p:cNvSpPr/>
          <p:nvPr/>
        </p:nvSpPr>
        <p:spPr>
          <a:xfrm>
            <a:off x="6997148" y="1510748"/>
            <a:ext cx="3286539" cy="3366052"/>
          </a:xfrm>
          <a:prstGeom prst="hexagon">
            <a:avLst/>
          </a:prstGeom>
          <a:solidFill>
            <a:schemeClr val="accent5">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Target not met-56</a:t>
            </a:r>
          </a:p>
          <a:p>
            <a:pPr algn="ctr"/>
            <a:r>
              <a:rPr lang="en-US" dirty="0"/>
              <a:t>Target exceeded-36</a:t>
            </a:r>
          </a:p>
        </p:txBody>
      </p:sp>
    </p:spTree>
    <p:extLst>
      <p:ext uri="{BB962C8B-B14F-4D97-AF65-F5344CB8AC3E}">
        <p14:creationId xmlns:p14="http://schemas.microsoft.com/office/powerpoint/2010/main" val="2825771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26B5E-6CE5-453F-8DEF-08031FDC6B97}"/>
              </a:ext>
            </a:extLst>
          </p:cNvPr>
          <p:cNvSpPr>
            <a:spLocks noGrp="1"/>
          </p:cNvSpPr>
          <p:nvPr>
            <p:ph type="title"/>
          </p:nvPr>
        </p:nvSpPr>
        <p:spPr>
          <a:xfrm>
            <a:off x="1141413" y="0"/>
            <a:ext cx="9905998" cy="2517913"/>
          </a:xfrm>
        </p:spPr>
        <p:txBody>
          <a:bodyPr>
            <a:normAutofit fontScale="90000"/>
          </a:bodyPr>
          <a:lstStyle/>
          <a:p>
            <a:pPr algn="ctr"/>
            <a:r>
              <a:rPr lang="en-US" sz="1800" dirty="0">
                <a:solidFill>
                  <a:srgbClr val="FF0000"/>
                </a:solidFill>
                <a:effectLst/>
                <a:latin typeface="Arial" panose="020B0604020202020204" pitchFamily="34" charset="0"/>
                <a:ea typeface="Times New Roman" panose="02020603050405020304" pitchFamily="18" charset="0"/>
              </a:rPr>
              <a:t>Which sales teams were given how much total sales targets in total</a:t>
            </a:r>
            <a:br>
              <a:rPr lang="en-US" sz="1800" dirty="0">
                <a:solidFill>
                  <a:srgbClr val="FF0000"/>
                </a:solidFill>
                <a:effectLst/>
                <a:latin typeface="Arial" panose="020B0604020202020204" pitchFamily="34" charset="0"/>
                <a:ea typeface="Times New Roman" panose="02020603050405020304" pitchFamily="18" charset="0"/>
              </a:rPr>
            </a:br>
            <a:br>
              <a:rPr lang="en-US" sz="1800" dirty="0">
                <a:solidFill>
                  <a:srgbClr val="FF0000"/>
                </a:solidFill>
                <a:effectLst/>
                <a:latin typeface="Arial" panose="020B0604020202020204" pitchFamily="34" charset="0"/>
                <a:ea typeface="Times New Roman" panose="02020603050405020304" pitchFamily="18" charset="0"/>
              </a:rPr>
            </a:br>
            <a:br>
              <a:rPr lang="en-US" sz="1800" dirty="0">
                <a:solidFill>
                  <a:srgbClr val="FF0000"/>
                </a:solidFill>
                <a:effectLst/>
                <a:latin typeface="Arial" panose="020B0604020202020204" pitchFamily="34" charset="0"/>
                <a:ea typeface="Times New Roman" panose="02020603050405020304" pitchFamily="18" charset="0"/>
              </a:rPr>
            </a:br>
            <a:r>
              <a:rPr lang="en-US" sz="1800" dirty="0">
                <a:solidFill>
                  <a:schemeClr val="bg1"/>
                </a:solidFill>
                <a:effectLst/>
                <a:latin typeface="Arial" panose="020B0604020202020204" pitchFamily="34" charset="0"/>
                <a:ea typeface="Times New Roman" panose="02020603050405020304" pitchFamily="18" charset="0"/>
              </a:rPr>
              <a:t>Alpha sales team was assigned the highest targets </a:t>
            </a:r>
            <a:br>
              <a:rPr lang="en-US" sz="1800" dirty="0">
                <a:solidFill>
                  <a:schemeClr val="bg1"/>
                </a:solidFill>
                <a:effectLst/>
                <a:latin typeface="Arial" panose="020B0604020202020204" pitchFamily="34" charset="0"/>
                <a:ea typeface="Times New Roman" panose="02020603050405020304" pitchFamily="18" charset="0"/>
              </a:rPr>
            </a:br>
            <a:br>
              <a:rPr lang="en-US" sz="1800" dirty="0">
                <a:effectLst/>
                <a:latin typeface="Arial" panose="020B0604020202020204" pitchFamily="34" charset="0"/>
                <a:ea typeface="Times New Roman" panose="02020603050405020304" pitchFamily="18" charset="0"/>
              </a:rPr>
            </a:br>
            <a:r>
              <a:rPr lang="en-US" sz="1800" dirty="0">
                <a:solidFill>
                  <a:schemeClr val="bg1"/>
                </a:solidFill>
                <a:effectLst/>
                <a:latin typeface="Arial" panose="020B0604020202020204" pitchFamily="34" charset="0"/>
                <a:ea typeface="Times New Roman" panose="02020603050405020304" pitchFamily="18" charset="0"/>
              </a:rPr>
              <a:t>alpha  - 3690000</a:t>
            </a:r>
            <a:br>
              <a:rPr lang="en-US" sz="1800" dirty="0">
                <a:solidFill>
                  <a:schemeClr val="bg1"/>
                </a:solidFill>
                <a:effectLst/>
                <a:latin typeface="Arial" panose="020B0604020202020204" pitchFamily="34" charset="0"/>
                <a:ea typeface="Times New Roman" panose="02020603050405020304" pitchFamily="18" charset="0"/>
              </a:rPr>
            </a:br>
            <a:r>
              <a:rPr lang="en-US" sz="1800" dirty="0">
                <a:solidFill>
                  <a:schemeClr val="bg1"/>
                </a:solidFill>
                <a:effectLst/>
                <a:latin typeface="Arial" panose="020B0604020202020204" pitchFamily="34" charset="0"/>
                <a:ea typeface="Times New Roman" panose="02020603050405020304" pitchFamily="18" charset="0"/>
              </a:rPr>
              <a:t>Beta     - 2920000</a:t>
            </a:r>
            <a:br>
              <a:rPr lang="en-US" sz="1800" dirty="0">
                <a:solidFill>
                  <a:schemeClr val="bg1"/>
                </a:solidFill>
                <a:effectLst/>
                <a:latin typeface="Arial" panose="020B0604020202020204" pitchFamily="34" charset="0"/>
                <a:ea typeface="Times New Roman" panose="02020603050405020304" pitchFamily="18" charset="0"/>
              </a:rPr>
            </a:br>
            <a:r>
              <a:rPr lang="en-US" sz="1800" dirty="0">
                <a:solidFill>
                  <a:schemeClr val="bg1"/>
                </a:solidFill>
                <a:effectLst/>
                <a:latin typeface="Arial" panose="020B0604020202020204" pitchFamily="34" charset="0"/>
                <a:ea typeface="Times New Roman" panose="02020603050405020304" pitchFamily="18" charset="0"/>
              </a:rPr>
              <a:t>gamma - 2410000</a:t>
            </a:r>
            <a:br>
              <a:rPr lang="en-US" sz="1800" dirty="0">
                <a:solidFill>
                  <a:schemeClr val="bg1"/>
                </a:solidFill>
                <a:effectLst/>
                <a:latin typeface="Arial" panose="020B0604020202020204" pitchFamily="34" charset="0"/>
                <a:ea typeface="Times New Roman" panose="02020603050405020304" pitchFamily="18" charset="0"/>
              </a:rPr>
            </a:br>
            <a:r>
              <a:rPr lang="en-US" sz="1800" dirty="0">
                <a:solidFill>
                  <a:schemeClr val="bg1"/>
                </a:solidFill>
                <a:effectLst/>
                <a:latin typeface="Arial" panose="020B0604020202020204" pitchFamily="34" charset="0"/>
                <a:ea typeface="Times New Roman" panose="02020603050405020304" pitchFamily="18" charset="0"/>
              </a:rPr>
              <a:t>delta   - 2310000</a:t>
            </a:r>
            <a:br>
              <a:rPr lang="en-US" sz="1800" dirty="0">
                <a:solidFill>
                  <a:schemeClr val="bg1"/>
                </a:solidFill>
                <a:effectLst/>
                <a:latin typeface="Arial" panose="020B0604020202020204" pitchFamily="34" charset="0"/>
                <a:ea typeface="Times New Roman" panose="02020603050405020304" pitchFamily="18" charset="0"/>
              </a:rPr>
            </a:br>
            <a:r>
              <a:rPr lang="en-US" sz="1800" dirty="0">
                <a:solidFill>
                  <a:schemeClr val="bg1"/>
                </a:solidFill>
                <a:effectLst/>
                <a:latin typeface="Arial" panose="020B0604020202020204" pitchFamily="34" charset="0"/>
                <a:ea typeface="Times New Roman" panose="02020603050405020304" pitchFamily="18" charset="0"/>
              </a:rPr>
              <a:t>epsilon- 1480000</a:t>
            </a:r>
            <a:endParaRPr lang="en-US" sz="1800" dirty="0">
              <a:solidFill>
                <a:schemeClr val="bg1"/>
              </a:solidFill>
            </a:endParaRPr>
          </a:p>
        </p:txBody>
      </p:sp>
      <p:pic>
        <p:nvPicPr>
          <p:cNvPr id="9" name="Content Placeholder 8">
            <a:extLst>
              <a:ext uri="{FF2B5EF4-FFF2-40B4-BE49-F238E27FC236}">
                <a16:creationId xmlns:a16="http://schemas.microsoft.com/office/drawing/2014/main" id="{A4A320BA-AE67-4F1C-9625-C07E00A79A70}"/>
              </a:ext>
            </a:extLst>
          </p:cNvPr>
          <p:cNvPicPr>
            <a:picLocks noGrp="1" noChangeAspect="1"/>
          </p:cNvPicPr>
          <p:nvPr>
            <p:ph idx="1"/>
          </p:nvPr>
        </p:nvPicPr>
        <p:blipFill>
          <a:blip r:embed="rId2"/>
          <a:stretch>
            <a:fillRect/>
          </a:stretch>
        </p:blipFill>
        <p:spPr>
          <a:xfrm>
            <a:off x="2372140" y="3149836"/>
            <a:ext cx="7036904" cy="2800741"/>
          </a:xfrm>
        </p:spPr>
      </p:pic>
    </p:spTree>
    <p:extLst>
      <p:ext uri="{BB962C8B-B14F-4D97-AF65-F5344CB8AC3E}">
        <p14:creationId xmlns:p14="http://schemas.microsoft.com/office/powerpoint/2010/main" val="2854493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AA8C1-DB92-405F-A0E9-2FA6C4E8301F}"/>
              </a:ext>
            </a:extLst>
          </p:cNvPr>
          <p:cNvSpPr>
            <a:spLocks noGrp="1"/>
          </p:cNvSpPr>
          <p:nvPr>
            <p:ph type="title"/>
          </p:nvPr>
        </p:nvSpPr>
        <p:spPr/>
        <p:txBody>
          <a:bodyPr/>
          <a:lstStyle/>
          <a:p>
            <a:r>
              <a:rPr lang="en-US" sz="1800" dirty="0">
                <a:solidFill>
                  <a:srgbClr val="FF0000"/>
                </a:solidFill>
                <a:effectLst/>
                <a:latin typeface="Arial" panose="020B0604020202020204" pitchFamily="34" charset="0"/>
                <a:ea typeface="Times New Roman" panose="02020603050405020304" pitchFamily="18" charset="0"/>
                <a:cs typeface="Mangal" panose="02040503050203030202" pitchFamily="18" charset="0"/>
              </a:rPr>
              <a:t>which sales manager was given the highest Target? Did he/she meet that Target?</a:t>
            </a:r>
            <a:br>
              <a:rPr lang="en-US" sz="1800" dirty="0">
                <a:solidFill>
                  <a:srgbClr val="FF0000"/>
                </a:solidFill>
                <a:effectLst/>
                <a:latin typeface="Calibri" panose="020F0502020204030204" pitchFamily="34" charset="0"/>
                <a:ea typeface="Calibri" panose="020F0502020204030204" pitchFamily="34" charset="0"/>
                <a:cs typeface="Mangal" panose="02040503050203030202" pitchFamily="18" charset="0"/>
              </a:rPr>
            </a:br>
            <a:endParaRPr lang="en-US" dirty="0">
              <a:solidFill>
                <a:srgbClr val="FF0000"/>
              </a:solidFill>
            </a:endParaRPr>
          </a:p>
        </p:txBody>
      </p:sp>
      <p:sp>
        <p:nvSpPr>
          <p:cNvPr id="3" name="Content Placeholder 2">
            <a:extLst>
              <a:ext uri="{FF2B5EF4-FFF2-40B4-BE49-F238E27FC236}">
                <a16:creationId xmlns:a16="http://schemas.microsoft.com/office/drawing/2014/main" id="{5BA630AF-8AE7-44DD-8C5D-A0F7170EE653}"/>
              </a:ext>
            </a:extLst>
          </p:cNvPr>
          <p:cNvSpPr>
            <a:spLocks noGrp="1"/>
          </p:cNvSpPr>
          <p:nvPr>
            <p:ph idx="1"/>
          </p:nvPr>
        </p:nvSpPr>
        <p:spPr>
          <a:xfrm>
            <a:off x="7840284" y="2390256"/>
            <a:ext cx="3652698" cy="2955373"/>
          </a:xfrm>
        </p:spPr>
        <p:txBody>
          <a:bodyPr/>
          <a:lstStyle/>
          <a:p>
            <a:r>
              <a:rPr lang="en-US" sz="1800" dirty="0">
                <a:solidFill>
                  <a:schemeClr val="bg1"/>
                </a:solidFill>
                <a:effectLst/>
                <a:latin typeface="Arial" panose="020B0604020202020204" pitchFamily="34" charset="0"/>
                <a:ea typeface="Calibri" panose="020F0502020204030204" pitchFamily="34" charset="0"/>
                <a:cs typeface="Mangal" panose="02040503050203030202" pitchFamily="18" charset="0"/>
              </a:rPr>
              <a:t>Benjamin Chen and Noah Meier were given the highest target. Benjamin Chen did not meet the sales target while Noah Meier met it.</a:t>
            </a:r>
            <a:endParaRPr lang="en-US" sz="18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p>
            <a:endParaRPr lang="en-US" dirty="0"/>
          </a:p>
        </p:txBody>
      </p:sp>
      <p:pic>
        <p:nvPicPr>
          <p:cNvPr id="5" name="Picture 4">
            <a:extLst>
              <a:ext uri="{FF2B5EF4-FFF2-40B4-BE49-F238E27FC236}">
                <a16:creationId xmlns:a16="http://schemas.microsoft.com/office/drawing/2014/main" id="{5CD8FC0A-1577-4CE2-946A-E3479BF2C6CF}"/>
              </a:ext>
            </a:extLst>
          </p:cNvPr>
          <p:cNvPicPr>
            <a:picLocks noChangeAspect="1"/>
          </p:cNvPicPr>
          <p:nvPr/>
        </p:nvPicPr>
        <p:blipFill>
          <a:blip r:embed="rId2"/>
          <a:stretch>
            <a:fillRect/>
          </a:stretch>
        </p:blipFill>
        <p:spPr>
          <a:xfrm>
            <a:off x="699018" y="2097087"/>
            <a:ext cx="6420746" cy="3541713"/>
          </a:xfrm>
          <a:prstGeom prst="rect">
            <a:avLst/>
          </a:prstGeom>
        </p:spPr>
      </p:pic>
    </p:spTree>
    <p:extLst>
      <p:ext uri="{BB962C8B-B14F-4D97-AF65-F5344CB8AC3E}">
        <p14:creationId xmlns:p14="http://schemas.microsoft.com/office/powerpoint/2010/main" val="1920054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7C58F-AAAD-49EB-AABD-B05CE8981CB5}"/>
              </a:ext>
            </a:extLst>
          </p:cNvPr>
          <p:cNvSpPr>
            <a:spLocks noGrp="1"/>
          </p:cNvSpPr>
          <p:nvPr>
            <p:ph type="title"/>
          </p:nvPr>
        </p:nvSpPr>
        <p:spPr/>
        <p:txBody>
          <a:bodyPr>
            <a:normAutofit/>
          </a:bodyPr>
          <a:lstStyle/>
          <a:p>
            <a:r>
              <a:rPr lang="en-US" sz="1800" dirty="0">
                <a:solidFill>
                  <a:srgbClr val="FF0000"/>
                </a:solidFill>
                <a:latin typeface="Calibri" panose="020F0502020204030204" pitchFamily="34" charset="0"/>
                <a:cs typeface="Calibri" panose="020F0502020204030204" pitchFamily="34" charset="0"/>
              </a:rPr>
              <a:t>Which month were best for the country from a sales standpoint</a:t>
            </a:r>
          </a:p>
        </p:txBody>
      </p:sp>
      <p:sp>
        <p:nvSpPr>
          <p:cNvPr id="3" name="Content Placeholder 2">
            <a:extLst>
              <a:ext uri="{FF2B5EF4-FFF2-40B4-BE49-F238E27FC236}">
                <a16:creationId xmlns:a16="http://schemas.microsoft.com/office/drawing/2014/main" id="{8C9ACD0B-9AF4-4AFC-ADC2-C173773BC448}"/>
              </a:ext>
            </a:extLst>
          </p:cNvPr>
          <p:cNvSpPr>
            <a:spLocks noGrp="1"/>
          </p:cNvSpPr>
          <p:nvPr>
            <p:ph idx="1"/>
          </p:nvPr>
        </p:nvSpPr>
        <p:spPr>
          <a:xfrm>
            <a:off x="7911548" y="2196479"/>
            <a:ext cx="3573185" cy="3157400"/>
          </a:xfrm>
        </p:spPr>
        <p:txBody>
          <a:bodyPr/>
          <a:lstStyle/>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r>
              <a:rPr lang="en-US" sz="1800" dirty="0">
                <a:solidFill>
                  <a:schemeClr val="bg1"/>
                </a:solidFill>
                <a:effectLst/>
                <a:latin typeface="Arial" panose="020B0604020202020204" pitchFamily="34" charset="0"/>
                <a:ea typeface="Times New Roman" panose="02020603050405020304" pitchFamily="18" charset="0"/>
                <a:cs typeface="Mangal" panose="02040503050203030202" pitchFamily="18" charset="0"/>
              </a:rPr>
              <a:t>February and November recorded strong sales performance.</a:t>
            </a:r>
            <a:endParaRPr lang="en-US" sz="18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15000"/>
              </a:lnSpc>
              <a:spcBef>
                <a:spcPts val="0"/>
              </a:spcBef>
              <a:spcAft>
                <a:spcPts val="1000"/>
              </a:spcAft>
              <a:buSzPts val="1000"/>
              <a:buFont typeface="Symbol" panose="05050102010706020507" pitchFamily="18" charset="2"/>
              <a:buChar char=""/>
              <a:tabLst>
                <a:tab pos="457200" algn="l"/>
              </a:tabLst>
            </a:pPr>
            <a:r>
              <a:rPr lang="en-US" sz="1800" dirty="0">
                <a:solidFill>
                  <a:schemeClr val="bg1"/>
                </a:solidFill>
                <a:effectLst/>
                <a:latin typeface="Arial" panose="020B0604020202020204" pitchFamily="34" charset="0"/>
                <a:ea typeface="Times New Roman" panose="02020603050405020304" pitchFamily="18" charset="0"/>
                <a:cs typeface="Mangal" panose="02040503050203030202" pitchFamily="18" charset="0"/>
              </a:rPr>
              <a:t>November had the highest number of orders as well as the highest sales value.</a:t>
            </a:r>
            <a:endParaRPr lang="en-US" sz="1800" dirty="0">
              <a:solidFill>
                <a:schemeClr val="bg1"/>
              </a:solidFill>
              <a:effectLst/>
              <a:latin typeface="Calibri" panose="020F0502020204030204" pitchFamily="34" charset="0"/>
              <a:ea typeface="Calibri" panose="020F0502020204030204" pitchFamily="34" charset="0"/>
              <a:cs typeface="Mangal" panose="02040503050203030202" pitchFamily="18" charset="0"/>
            </a:endParaRPr>
          </a:p>
          <a:p>
            <a:endParaRPr lang="en-US" dirty="0"/>
          </a:p>
        </p:txBody>
      </p:sp>
      <p:pic>
        <p:nvPicPr>
          <p:cNvPr id="5" name="Picture 4">
            <a:extLst>
              <a:ext uri="{FF2B5EF4-FFF2-40B4-BE49-F238E27FC236}">
                <a16:creationId xmlns:a16="http://schemas.microsoft.com/office/drawing/2014/main" id="{767C6988-A306-4FB3-B305-49A4F8395451}"/>
              </a:ext>
            </a:extLst>
          </p:cNvPr>
          <p:cNvPicPr>
            <a:picLocks noChangeAspect="1"/>
          </p:cNvPicPr>
          <p:nvPr/>
        </p:nvPicPr>
        <p:blipFill>
          <a:blip r:embed="rId2"/>
          <a:stretch>
            <a:fillRect/>
          </a:stretch>
        </p:blipFill>
        <p:spPr>
          <a:xfrm>
            <a:off x="569843" y="2097089"/>
            <a:ext cx="6639340" cy="2898982"/>
          </a:xfrm>
          <a:prstGeom prst="rect">
            <a:avLst/>
          </a:prstGeom>
        </p:spPr>
      </p:pic>
    </p:spTree>
    <p:extLst>
      <p:ext uri="{BB962C8B-B14F-4D97-AF65-F5344CB8AC3E}">
        <p14:creationId xmlns:p14="http://schemas.microsoft.com/office/powerpoint/2010/main" val="525843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FDB7F-A8DB-40AE-A518-A9B1CDCC202F}"/>
              </a:ext>
            </a:extLst>
          </p:cNvPr>
          <p:cNvSpPr>
            <a:spLocks noGrp="1"/>
          </p:cNvSpPr>
          <p:nvPr>
            <p:ph type="title"/>
          </p:nvPr>
        </p:nvSpPr>
        <p:spPr/>
        <p:txBody>
          <a:bodyPr>
            <a:normAutofit/>
          </a:bodyPr>
          <a:lstStyle/>
          <a:p>
            <a:r>
              <a:rPr lang="en-US" sz="3200" b="1" dirty="0">
                <a:solidFill>
                  <a:srgbClr val="FF0000"/>
                </a:solidFill>
                <a:latin typeface="Calibri" panose="020F0502020204030204" pitchFamily="34" charset="0"/>
                <a:cs typeface="Calibri" panose="020F0502020204030204" pitchFamily="34" charset="0"/>
              </a:rPr>
              <a:t>TOOLS IS USED IN VISUALIZATION AND ANALISING</a:t>
            </a:r>
            <a:endParaRPr lang="en-US" sz="320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3AC99B7-562C-4E6E-8A68-657B85C34A46}"/>
              </a:ext>
            </a:extLst>
          </p:cNvPr>
          <p:cNvSpPr>
            <a:spLocks noGrp="1"/>
          </p:cNvSpPr>
          <p:nvPr>
            <p:ph idx="1"/>
          </p:nvPr>
        </p:nvSpPr>
        <p:spPr>
          <a:xfrm>
            <a:off x="1141412" y="2249486"/>
            <a:ext cx="9905999" cy="3820009"/>
          </a:xfrm>
        </p:spPr>
        <p:txBody>
          <a:bodyPr>
            <a:normAutofit lnSpcReduction="10000"/>
          </a:bodyPr>
          <a:lstStyle/>
          <a:p>
            <a:r>
              <a:rPr lang="en-US" dirty="0">
                <a:solidFill>
                  <a:schemeClr val="bg1"/>
                </a:solidFill>
              </a:rPr>
              <a:t>1</a:t>
            </a:r>
            <a:r>
              <a:rPr lang="en-US" dirty="0">
                <a:solidFill>
                  <a:schemeClr val="bg1"/>
                </a:solidFill>
                <a:latin typeface="Calibri" panose="020F0502020204030204" pitchFamily="34" charset="0"/>
                <a:cs typeface="Calibri" panose="020F0502020204030204" pitchFamily="34" charset="0"/>
              </a:rPr>
              <a:t>.filters</a:t>
            </a:r>
          </a:p>
          <a:p>
            <a:r>
              <a:rPr lang="en-US" dirty="0">
                <a:solidFill>
                  <a:schemeClr val="bg1"/>
                </a:solidFill>
                <a:latin typeface="Calibri" panose="020F0502020204030204" pitchFamily="34" charset="0"/>
                <a:cs typeface="Calibri" panose="020F0502020204030204" pitchFamily="34" charset="0"/>
              </a:rPr>
              <a:t>2. slicers</a:t>
            </a:r>
          </a:p>
          <a:p>
            <a:r>
              <a:rPr lang="en-US" dirty="0">
                <a:solidFill>
                  <a:schemeClr val="bg1"/>
                </a:solidFill>
                <a:latin typeface="Calibri" panose="020F0502020204030204" pitchFamily="34" charset="0"/>
                <a:cs typeface="Calibri" panose="020F0502020204030204" pitchFamily="34" charset="0"/>
              </a:rPr>
              <a:t>3.DAX function </a:t>
            </a:r>
          </a:p>
          <a:p>
            <a:r>
              <a:rPr lang="en-US" dirty="0">
                <a:solidFill>
                  <a:schemeClr val="bg1"/>
                </a:solidFill>
                <a:latin typeface="Calibri" panose="020F0502020204030204" pitchFamily="34" charset="0"/>
                <a:cs typeface="Calibri" panose="020F0502020204030204" pitchFamily="34" charset="0"/>
              </a:rPr>
              <a:t>4.different different visualization </a:t>
            </a:r>
          </a:p>
          <a:p>
            <a:r>
              <a:rPr lang="en-US" dirty="0">
                <a:solidFill>
                  <a:schemeClr val="bg1"/>
                </a:solidFill>
                <a:latin typeface="Calibri" panose="020F0502020204030204" pitchFamily="34" charset="0"/>
                <a:cs typeface="Calibri" panose="020F0502020204030204" pitchFamily="34" charset="0"/>
              </a:rPr>
              <a:t>5.bookmark</a:t>
            </a:r>
          </a:p>
          <a:p>
            <a:r>
              <a:rPr lang="en-US" dirty="0">
                <a:solidFill>
                  <a:schemeClr val="bg1"/>
                </a:solidFill>
                <a:latin typeface="Calibri" panose="020F0502020204030204" pitchFamily="34" charset="0"/>
                <a:cs typeface="Calibri" panose="020F0502020204030204" pitchFamily="34" charset="0"/>
              </a:rPr>
              <a:t>6. drill through</a:t>
            </a:r>
          </a:p>
          <a:p>
            <a:r>
              <a:rPr lang="en-US" dirty="0">
                <a:solidFill>
                  <a:schemeClr val="bg1"/>
                </a:solidFill>
                <a:latin typeface="Calibri" panose="020F0502020204030204" pitchFamily="34" charset="0"/>
                <a:cs typeface="Calibri" panose="020F0502020204030204" pitchFamily="34" charset="0"/>
              </a:rPr>
              <a:t>7.mobile view</a:t>
            </a:r>
          </a:p>
          <a:p>
            <a:endParaRPr lang="en-US" dirty="0"/>
          </a:p>
        </p:txBody>
      </p:sp>
    </p:spTree>
    <p:extLst>
      <p:ext uri="{BB962C8B-B14F-4D97-AF65-F5344CB8AC3E}">
        <p14:creationId xmlns:p14="http://schemas.microsoft.com/office/powerpoint/2010/main" val="504005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56AD8-C0D1-4133-B739-4667157BDE77}"/>
              </a:ext>
            </a:extLst>
          </p:cNvPr>
          <p:cNvSpPr>
            <a:spLocks noGrp="1"/>
          </p:cNvSpPr>
          <p:nvPr>
            <p:ph type="title"/>
          </p:nvPr>
        </p:nvSpPr>
        <p:spPr>
          <a:xfrm>
            <a:off x="1022142" y="300466"/>
            <a:ext cx="9905998" cy="653691"/>
          </a:xfrm>
        </p:spPr>
        <p:txBody>
          <a:bodyPr/>
          <a:lstStyle/>
          <a:p>
            <a:r>
              <a:rPr lang="en-US" b="1" dirty="0">
                <a:solidFill>
                  <a:srgbClr val="FF0000"/>
                </a:solidFill>
                <a:latin typeface="Calibri" panose="020F0502020204030204" pitchFamily="34" charset="0"/>
                <a:cs typeface="Calibri" panose="020F0502020204030204" pitchFamily="34" charset="0"/>
              </a:rPr>
              <a:t>Sales team-</a:t>
            </a:r>
          </a:p>
        </p:txBody>
      </p:sp>
      <p:pic>
        <p:nvPicPr>
          <p:cNvPr id="5" name="Content Placeholder 4">
            <a:extLst>
              <a:ext uri="{FF2B5EF4-FFF2-40B4-BE49-F238E27FC236}">
                <a16:creationId xmlns:a16="http://schemas.microsoft.com/office/drawing/2014/main" id="{4373C8A0-BF41-4808-954A-AF2DCCC72D29}"/>
              </a:ext>
            </a:extLst>
          </p:cNvPr>
          <p:cNvPicPr>
            <a:picLocks noGrp="1" noChangeAspect="1"/>
          </p:cNvPicPr>
          <p:nvPr>
            <p:ph idx="1"/>
          </p:nvPr>
        </p:nvPicPr>
        <p:blipFill>
          <a:blip r:embed="rId2"/>
          <a:stretch>
            <a:fillRect/>
          </a:stretch>
        </p:blipFill>
        <p:spPr>
          <a:xfrm>
            <a:off x="781877" y="1046922"/>
            <a:ext cx="10601739" cy="5510612"/>
          </a:xfrm>
        </p:spPr>
      </p:pic>
    </p:spTree>
    <p:extLst>
      <p:ext uri="{BB962C8B-B14F-4D97-AF65-F5344CB8AC3E}">
        <p14:creationId xmlns:p14="http://schemas.microsoft.com/office/powerpoint/2010/main" val="2618934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01E3F-CA10-4A53-A8A1-7E40BF0B20BC}"/>
              </a:ext>
            </a:extLst>
          </p:cNvPr>
          <p:cNvSpPr>
            <a:spLocks noGrp="1"/>
          </p:cNvSpPr>
          <p:nvPr>
            <p:ph type="title"/>
          </p:nvPr>
        </p:nvSpPr>
        <p:spPr>
          <a:xfrm>
            <a:off x="1141413" y="185530"/>
            <a:ext cx="9905998" cy="1086679"/>
          </a:xfrm>
        </p:spPr>
        <p:txBody>
          <a:bodyPr/>
          <a:lstStyle/>
          <a:p>
            <a:r>
              <a:rPr lang="en-US" b="1" dirty="0">
                <a:solidFill>
                  <a:srgbClr val="FF0000"/>
                </a:solidFill>
                <a:latin typeface="Calibri" panose="020F0502020204030204" pitchFamily="34" charset="0"/>
                <a:cs typeface="Calibri" panose="020F0502020204030204" pitchFamily="34" charset="0"/>
              </a:rPr>
              <a:t>Orders</a:t>
            </a:r>
            <a:r>
              <a:rPr lang="en-US" dirty="0">
                <a:solidFill>
                  <a:srgbClr val="FF0000"/>
                </a:solidFill>
                <a:latin typeface="Calibri" panose="020F0502020204030204" pitchFamily="34" charset="0"/>
                <a:cs typeface="Calibri" panose="020F0502020204030204" pitchFamily="34" charset="0"/>
              </a:rPr>
              <a:t>-</a:t>
            </a:r>
          </a:p>
        </p:txBody>
      </p:sp>
      <p:pic>
        <p:nvPicPr>
          <p:cNvPr id="5" name="Content Placeholder 4">
            <a:extLst>
              <a:ext uri="{FF2B5EF4-FFF2-40B4-BE49-F238E27FC236}">
                <a16:creationId xmlns:a16="http://schemas.microsoft.com/office/drawing/2014/main" id="{50AA9CC7-3377-4E45-9CF2-7866830FFFF9}"/>
              </a:ext>
            </a:extLst>
          </p:cNvPr>
          <p:cNvPicPr>
            <a:picLocks noGrp="1" noChangeAspect="1"/>
          </p:cNvPicPr>
          <p:nvPr>
            <p:ph idx="1"/>
          </p:nvPr>
        </p:nvPicPr>
        <p:blipFill>
          <a:blip r:embed="rId2"/>
          <a:stretch>
            <a:fillRect/>
          </a:stretch>
        </p:blipFill>
        <p:spPr>
          <a:xfrm>
            <a:off x="940179" y="1272209"/>
            <a:ext cx="10308465" cy="4943060"/>
          </a:xfrm>
        </p:spPr>
      </p:pic>
    </p:spTree>
    <p:extLst>
      <p:ext uri="{BB962C8B-B14F-4D97-AF65-F5344CB8AC3E}">
        <p14:creationId xmlns:p14="http://schemas.microsoft.com/office/powerpoint/2010/main" val="3177011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14826-CE80-409D-89E0-474D4CD997DC}"/>
              </a:ext>
            </a:extLst>
          </p:cNvPr>
          <p:cNvSpPr>
            <a:spLocks noGrp="1"/>
          </p:cNvSpPr>
          <p:nvPr>
            <p:ph type="title"/>
          </p:nvPr>
        </p:nvSpPr>
        <p:spPr>
          <a:xfrm>
            <a:off x="1141413" y="225288"/>
            <a:ext cx="9905998" cy="1033669"/>
          </a:xfrm>
        </p:spPr>
        <p:txBody>
          <a:bodyPr/>
          <a:lstStyle/>
          <a:p>
            <a:r>
              <a:rPr lang="en-US" b="1" dirty="0">
                <a:solidFill>
                  <a:srgbClr val="FF0000"/>
                </a:solidFill>
                <a:latin typeface="Calibri" panose="020F0502020204030204" pitchFamily="34" charset="0"/>
                <a:cs typeface="Calibri" panose="020F0502020204030204" pitchFamily="34" charset="0"/>
              </a:rPr>
              <a:t>Sales target page-</a:t>
            </a:r>
          </a:p>
        </p:txBody>
      </p:sp>
      <p:pic>
        <p:nvPicPr>
          <p:cNvPr id="5" name="Content Placeholder 4">
            <a:extLst>
              <a:ext uri="{FF2B5EF4-FFF2-40B4-BE49-F238E27FC236}">
                <a16:creationId xmlns:a16="http://schemas.microsoft.com/office/drawing/2014/main" id="{BEC46F67-792F-408E-BE66-A84B9D286F85}"/>
              </a:ext>
            </a:extLst>
          </p:cNvPr>
          <p:cNvPicPr>
            <a:picLocks noGrp="1" noChangeAspect="1"/>
          </p:cNvPicPr>
          <p:nvPr>
            <p:ph idx="1"/>
          </p:nvPr>
        </p:nvPicPr>
        <p:blipFill>
          <a:blip r:embed="rId2"/>
          <a:stretch>
            <a:fillRect/>
          </a:stretch>
        </p:blipFill>
        <p:spPr>
          <a:xfrm>
            <a:off x="1141413" y="1258957"/>
            <a:ext cx="10215699" cy="4837043"/>
          </a:xfrm>
        </p:spPr>
      </p:pic>
    </p:spTree>
    <p:extLst>
      <p:ext uri="{BB962C8B-B14F-4D97-AF65-F5344CB8AC3E}">
        <p14:creationId xmlns:p14="http://schemas.microsoft.com/office/powerpoint/2010/main" val="1977920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E04F1-DF89-4365-B2AF-F68AFD16CED7}"/>
              </a:ext>
            </a:extLst>
          </p:cNvPr>
          <p:cNvSpPr>
            <a:spLocks noGrp="1"/>
          </p:cNvSpPr>
          <p:nvPr>
            <p:ph type="title"/>
          </p:nvPr>
        </p:nvSpPr>
        <p:spPr>
          <a:xfrm>
            <a:off x="1141413" y="106018"/>
            <a:ext cx="9905998" cy="1311966"/>
          </a:xfrm>
        </p:spPr>
        <p:txBody>
          <a:bodyPr/>
          <a:lstStyle/>
          <a:p>
            <a:r>
              <a:rPr lang="en-US" dirty="0">
                <a:solidFill>
                  <a:srgbClr val="FF0000"/>
                </a:solidFill>
                <a:latin typeface="Calibri" panose="020F0502020204030204" pitchFamily="34" charset="0"/>
                <a:cs typeface="Calibri" panose="020F0502020204030204" pitchFamily="34" charset="0"/>
              </a:rPr>
              <a:t>Sales in each country-</a:t>
            </a:r>
          </a:p>
        </p:txBody>
      </p:sp>
      <p:pic>
        <p:nvPicPr>
          <p:cNvPr id="5" name="Content Placeholder 4">
            <a:extLst>
              <a:ext uri="{FF2B5EF4-FFF2-40B4-BE49-F238E27FC236}">
                <a16:creationId xmlns:a16="http://schemas.microsoft.com/office/drawing/2014/main" id="{70BC387F-4EB1-4740-8DEB-C8D28403F2CD}"/>
              </a:ext>
            </a:extLst>
          </p:cNvPr>
          <p:cNvPicPr>
            <a:picLocks noGrp="1" noChangeAspect="1"/>
          </p:cNvPicPr>
          <p:nvPr>
            <p:ph idx="1"/>
          </p:nvPr>
        </p:nvPicPr>
        <p:blipFill>
          <a:blip r:embed="rId2"/>
          <a:stretch>
            <a:fillRect/>
          </a:stretch>
        </p:blipFill>
        <p:spPr>
          <a:xfrm>
            <a:off x="1007165" y="1272209"/>
            <a:ext cx="10277060" cy="5155095"/>
          </a:xfrm>
        </p:spPr>
      </p:pic>
    </p:spTree>
    <p:extLst>
      <p:ext uri="{BB962C8B-B14F-4D97-AF65-F5344CB8AC3E}">
        <p14:creationId xmlns:p14="http://schemas.microsoft.com/office/powerpoint/2010/main" val="1037373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4512B-607F-40C1-B90F-BE79706A0DC5}"/>
              </a:ext>
            </a:extLst>
          </p:cNvPr>
          <p:cNvSpPr>
            <a:spLocks noGrp="1"/>
          </p:cNvSpPr>
          <p:nvPr>
            <p:ph type="title"/>
          </p:nvPr>
        </p:nvSpPr>
        <p:spPr>
          <a:xfrm>
            <a:off x="1141413" y="225288"/>
            <a:ext cx="9905998" cy="901148"/>
          </a:xfrm>
        </p:spPr>
        <p:txBody>
          <a:bodyPr/>
          <a:lstStyle/>
          <a:p>
            <a:r>
              <a:rPr lang="en-US" b="1" dirty="0" err="1">
                <a:solidFill>
                  <a:srgbClr val="FF0000"/>
                </a:solidFill>
                <a:latin typeface="Calibri" panose="020F0502020204030204" pitchFamily="34" charset="0"/>
                <a:cs typeface="Calibri" panose="020F0502020204030204" pitchFamily="34" charset="0"/>
              </a:rPr>
              <a:t>Sm</a:t>
            </a:r>
            <a:r>
              <a:rPr lang="en-US" b="1" dirty="0">
                <a:solidFill>
                  <a:srgbClr val="FF0000"/>
                </a:solidFill>
                <a:latin typeface="Calibri" panose="020F0502020204030204" pitchFamily="34" charset="0"/>
                <a:cs typeface="Calibri" panose="020F0502020204030204" pitchFamily="34" charset="0"/>
              </a:rPr>
              <a:t> sales by country-</a:t>
            </a:r>
          </a:p>
        </p:txBody>
      </p:sp>
      <p:pic>
        <p:nvPicPr>
          <p:cNvPr id="5" name="Content Placeholder 4">
            <a:extLst>
              <a:ext uri="{FF2B5EF4-FFF2-40B4-BE49-F238E27FC236}">
                <a16:creationId xmlns:a16="http://schemas.microsoft.com/office/drawing/2014/main" id="{DAAA8B83-5686-4E27-8A42-AF3EE2C827BC}"/>
              </a:ext>
            </a:extLst>
          </p:cNvPr>
          <p:cNvPicPr>
            <a:picLocks noGrp="1" noChangeAspect="1"/>
          </p:cNvPicPr>
          <p:nvPr>
            <p:ph idx="1"/>
          </p:nvPr>
        </p:nvPicPr>
        <p:blipFill>
          <a:blip r:embed="rId2"/>
          <a:stretch>
            <a:fillRect/>
          </a:stretch>
        </p:blipFill>
        <p:spPr>
          <a:xfrm>
            <a:off x="1007164" y="1378225"/>
            <a:ext cx="10230679" cy="5102087"/>
          </a:xfrm>
        </p:spPr>
      </p:pic>
    </p:spTree>
    <p:extLst>
      <p:ext uri="{BB962C8B-B14F-4D97-AF65-F5344CB8AC3E}">
        <p14:creationId xmlns:p14="http://schemas.microsoft.com/office/powerpoint/2010/main" val="965477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B7D25-B273-4BAC-8390-3C2AD82AC87D}"/>
              </a:ext>
            </a:extLst>
          </p:cNvPr>
          <p:cNvSpPr>
            <a:spLocks noGrp="1"/>
          </p:cNvSpPr>
          <p:nvPr>
            <p:ph type="title"/>
          </p:nvPr>
        </p:nvSpPr>
        <p:spPr>
          <a:xfrm>
            <a:off x="1141413" y="618518"/>
            <a:ext cx="9905998" cy="865725"/>
          </a:xfrm>
        </p:spPr>
        <p:txBody>
          <a:bodyPr/>
          <a:lstStyle/>
          <a:p>
            <a:r>
              <a:rPr lang="en-US" b="1" dirty="0">
                <a:solidFill>
                  <a:srgbClr val="FF0000"/>
                </a:solidFill>
                <a:latin typeface="Calibri" panose="020F0502020204030204" pitchFamily="34" charset="0"/>
                <a:cs typeface="Calibri" panose="020F0502020204030204" pitchFamily="34" charset="0"/>
              </a:rPr>
              <a:t>Conclusion</a:t>
            </a:r>
            <a:r>
              <a:rPr lang="en-US" dirty="0">
                <a:solidFill>
                  <a:srgbClr val="FF0000"/>
                </a:solidFill>
              </a:rPr>
              <a:t>-</a:t>
            </a:r>
          </a:p>
        </p:txBody>
      </p:sp>
      <p:sp>
        <p:nvSpPr>
          <p:cNvPr id="4" name="Rectangle 1">
            <a:extLst>
              <a:ext uri="{FF2B5EF4-FFF2-40B4-BE49-F238E27FC236}">
                <a16:creationId xmlns:a16="http://schemas.microsoft.com/office/drawing/2014/main" id="{AC96BC90-7EA9-49A9-BFE9-6D44A6D96C9D}"/>
              </a:ext>
            </a:extLst>
          </p:cNvPr>
          <p:cNvSpPr>
            <a:spLocks noGrp="1" noChangeArrowheads="1"/>
          </p:cNvSpPr>
          <p:nvPr>
            <p:ph idx="1"/>
          </p:nvPr>
        </p:nvSpPr>
        <p:spPr bwMode="auto">
          <a:xfrm>
            <a:off x="940905" y="1490008"/>
            <a:ext cx="9905998"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This project analyzed the sales performance and sales targets of a global e-commerce company using Power BI. The dashboard helped identify monthly sales trends, top-performing countries, customer categories, and sales managers .It also provided insights into order sources and target achievement performance. Interactive visualizations and DAX measures improved data analysis and reporting efficiency. Overall, the project supported better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bg1"/>
                </a:solidFill>
                <a:effectLst/>
                <a:latin typeface="Calibri" panose="020F0502020204030204" pitchFamily="34" charset="0"/>
                <a:cs typeface="Calibri" panose="020F0502020204030204" pitchFamily="34" charset="0"/>
              </a:rPr>
              <a:t> business decision-making and demand forecasting</a:t>
            </a: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721254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{50DAE9A3-4EFD-40FA-9315-9E6BA7A390BF}TF6d5feb1e-e145-43f1-b745-cb4b54c5ee975d365c52-ce22229b0e48</Template>
  <TotalTime>1071</TotalTime>
  <Words>373</Words>
  <Application>Microsoft Office PowerPoint</Application>
  <PresentationFormat>Widescreen</PresentationFormat>
  <Paragraphs>38</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Symbol</vt:lpstr>
      <vt:lpstr>Times New Roman</vt:lpstr>
      <vt:lpstr>Tw Cen MT</vt:lpstr>
      <vt:lpstr>Wingdings</vt:lpstr>
      <vt:lpstr>Circuit</vt:lpstr>
      <vt:lpstr>E-commerce Orders analysis</vt:lpstr>
      <vt:lpstr>Problem statement</vt:lpstr>
      <vt:lpstr>Data cleaning</vt:lpstr>
      <vt:lpstr>Target buckets-target not met, target met and target exceeded how many sales Poc achieved there target.</vt:lpstr>
      <vt:lpstr>Which sales teams were given how much total sales targets in total   Alpha sales team was assigned the highest targets   alpha  - 3690000 Beta     - 2920000 gamma - 2410000 delta   - 2310000 epsilon- 1480000</vt:lpstr>
      <vt:lpstr>which sales manager was given the highest Target? Did he/she meet that Target? </vt:lpstr>
      <vt:lpstr>Which month were best for the country from a sales standpoint</vt:lpstr>
      <vt:lpstr>TOOLS IS USED IN VISUALIZATION AND ANALISING</vt:lpstr>
      <vt:lpstr>Sales team-</vt:lpstr>
      <vt:lpstr>Orders-</vt:lpstr>
      <vt:lpstr>Sales target page-</vt:lpstr>
      <vt:lpstr>Sales in each country-</vt:lpstr>
      <vt:lpstr>Sm sales by country-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Orders analysis</dc:title>
  <dc:creator>Vijay Dhangar</dc:creator>
  <cp:lastModifiedBy>Vijay Dhangar</cp:lastModifiedBy>
  <cp:revision>17</cp:revision>
  <dcterms:created xsi:type="dcterms:W3CDTF">2026-05-07T16:47:02Z</dcterms:created>
  <dcterms:modified xsi:type="dcterms:W3CDTF">2026-05-08T10:38:54Z</dcterms:modified>
</cp:coreProperties>
</file>